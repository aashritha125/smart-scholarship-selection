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grandir Tight Bold" charset="1" panose="00000808000000000000"/>
      <p:regular r:id="rId13"/>
    </p:embeddedFont>
    <p:embeddedFont>
      <p:font typeface="Inter Semi-Bold" charset="1" panose="02000503000000020004"/>
      <p:regular r:id="rId14"/>
    </p:embeddedFont>
    <p:embeddedFont>
      <p:font typeface="Agrandir Tight" charset="1" panose="00000508000000000000"/>
      <p:regular r:id="rId15"/>
    </p:embeddedFont>
    <p:embeddedFont>
      <p:font typeface="Agrandir Tight Medium" charset="1" panose="00000608000000000000"/>
      <p:regular r:id="rId16"/>
    </p:embeddedFont>
    <p:embeddedFont>
      <p:font typeface="Canva Sans" charset="1" panose="020B0503030501040103"/>
      <p:regular r:id="rId17"/>
    </p:embeddedFont>
    <p:embeddedFont>
      <p:font typeface="Canva Sans Bold" charset="1" panose="020B0803030501040103"/>
      <p:regular r:id="rId18"/>
    </p:embeddedFont>
    <p:embeddedFont>
      <p:font typeface="Inter Bold" charset="1" panose="020B0802030000000004"/>
      <p:regular r:id="rId19"/>
    </p:embeddedFont>
    <p:embeddedFont>
      <p:font typeface="Inter" charset="1" panose="020B050203000000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12" Target="../media/image17.png" Type="http://schemas.openxmlformats.org/officeDocument/2006/relationships/image"/><Relationship Id="rId13" Target="../media/image18.png" Type="http://schemas.openxmlformats.org/officeDocument/2006/relationships/image"/><Relationship Id="rId14" Target="../media/image19.png" Type="http://schemas.openxmlformats.org/officeDocument/2006/relationships/image"/><Relationship Id="rId15" Target="../media/image20.png" Type="http://schemas.openxmlformats.org/officeDocument/2006/relationships/image"/><Relationship Id="rId16" Target="../media/image21.png" Type="http://schemas.openxmlformats.org/officeDocument/2006/relationships/image"/><Relationship Id="rId17" Target="../media/image22.png" Type="http://schemas.openxmlformats.org/officeDocument/2006/relationships/image"/><Relationship Id="rId18" Target="../media/image23.png" Type="http://schemas.openxmlformats.org/officeDocument/2006/relationships/image"/><Relationship Id="rId19" Target="../media/image24.png" Type="http://schemas.openxmlformats.org/officeDocument/2006/relationships/image"/><Relationship Id="rId2" Target="../media/image7.png" Type="http://schemas.openxmlformats.org/officeDocument/2006/relationships/image"/><Relationship Id="rId20" Target="../media/image25.png" Type="http://schemas.openxmlformats.org/officeDocument/2006/relationships/image"/><Relationship Id="rId21" Target="../media/image26.png" Type="http://schemas.openxmlformats.org/officeDocument/2006/relationships/image"/><Relationship Id="rId22" Target="../media/image2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png" Type="http://schemas.openxmlformats.org/officeDocument/2006/relationships/image"/><Relationship Id="rId12" Target="../media/image38.png" Type="http://schemas.openxmlformats.org/officeDocument/2006/relationships/image"/><Relationship Id="rId13" Target="../media/image39.png" Type="http://schemas.openxmlformats.org/officeDocument/2006/relationships/image"/><Relationship Id="rId14" Target="../media/image40.png" Type="http://schemas.openxmlformats.org/officeDocument/2006/relationships/image"/><Relationship Id="rId15" Target="../media/image41.png" Type="http://schemas.openxmlformats.org/officeDocument/2006/relationships/image"/><Relationship Id="rId16" Target="../media/image42.png" Type="http://schemas.openxmlformats.org/officeDocument/2006/relationships/image"/><Relationship Id="rId17" Target="../media/image43.png" Type="http://schemas.openxmlformats.org/officeDocument/2006/relationships/image"/><Relationship Id="rId18" Target="../media/image44.png" Type="http://schemas.openxmlformats.org/officeDocument/2006/relationships/image"/><Relationship Id="rId19" Target="../media/image45.png" Type="http://schemas.openxmlformats.org/officeDocument/2006/relationships/image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Relationship Id="rId8" Target="../media/image34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png" Type="http://schemas.openxmlformats.org/officeDocument/2006/relationships/image"/><Relationship Id="rId4" Target="../media/image4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png" Type="http://schemas.openxmlformats.org/officeDocument/2006/relationships/image"/><Relationship Id="rId4" Target="../media/image51.png" Type="http://schemas.openxmlformats.org/officeDocument/2006/relationships/image"/><Relationship Id="rId5" Target="../media/image52.png" Type="http://schemas.openxmlformats.org/officeDocument/2006/relationships/image"/><Relationship Id="rId6" Target="../media/image53.png" Type="http://schemas.openxmlformats.org/officeDocument/2006/relationships/image"/><Relationship Id="rId7" Target="../media/image5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57.png" Type="http://schemas.openxmlformats.org/officeDocument/2006/relationships/image"/><Relationship Id="rId5" Target="../media/image58.png" Type="http://schemas.openxmlformats.org/officeDocument/2006/relationships/image"/><Relationship Id="rId6" Target="../media/image59.png" Type="http://schemas.openxmlformats.org/officeDocument/2006/relationships/image"/><Relationship Id="rId7" Target="../media/image60.png" Type="http://schemas.openxmlformats.org/officeDocument/2006/relationships/image"/><Relationship Id="rId8" Target="../media/image61.png" Type="http://schemas.openxmlformats.org/officeDocument/2006/relationships/image"/><Relationship Id="rId9" Target="../media/image6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920844" cy="3014246"/>
          </a:xfrm>
          <a:custGeom>
            <a:avLst/>
            <a:gdLst/>
            <a:ahLst/>
            <a:cxnLst/>
            <a:rect r="r" b="b" t="t" l="l"/>
            <a:pathLst>
              <a:path h="3014246" w="17920844">
                <a:moveTo>
                  <a:pt x="0" y="0"/>
                </a:moveTo>
                <a:lnTo>
                  <a:pt x="17920844" y="0"/>
                </a:lnTo>
                <a:lnTo>
                  <a:pt x="17920844" y="3014246"/>
                </a:lnTo>
                <a:lnTo>
                  <a:pt x="0" y="3014246"/>
                </a:lnTo>
                <a:lnTo>
                  <a:pt x="0" y="0"/>
                </a:lnTo>
                <a:close/>
              </a:path>
            </a:pathLst>
          </a:custGeom>
        </p:spPr>
      </p:sp>
      <p:sp>
        <p:nvSpPr>
          <p:cNvPr name="TextBox 3" id="3"/>
          <p:cNvSpPr txBox="true"/>
          <p:nvPr/>
        </p:nvSpPr>
        <p:spPr>
          <a:xfrm rot="0">
            <a:off x="569962" y="3033296"/>
            <a:ext cx="12222348" cy="2110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8"/>
              </a:lnSpc>
            </a:pPr>
            <a:r>
              <a:rPr lang="en-US" b="true" sz="7328">
                <a:solidFill>
                  <a:srgbClr val="031122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SCHOLARSHIP CANDIDATE SELECTION SYSTEM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9962" y="5495772"/>
            <a:ext cx="5281810" cy="437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6"/>
              </a:lnSpc>
            </a:pPr>
            <a:r>
              <a:rPr lang="en-US" sz="2904" b="true">
                <a:solidFill>
                  <a:srgbClr val="03112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DAA Hackathon - Problem 38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9962" y="6196663"/>
            <a:ext cx="6690272" cy="90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>
                <a:solidFill>
                  <a:srgbClr val="031122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Algorithm-Driven Scholarship Selection</a:t>
            </a:r>
          </a:p>
          <a:p>
            <a:pPr algn="l">
              <a:lnSpc>
                <a:spcPts val="3312"/>
              </a:lnSpc>
            </a:pPr>
            <a:r>
              <a:rPr lang="en-US" sz="2759">
                <a:solidFill>
                  <a:srgbClr val="031122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Using Sorting, Greedy and Dynamic Programming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9962" y="7103413"/>
            <a:ext cx="4618650" cy="559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3"/>
              </a:lnSpc>
            </a:pPr>
            <a:r>
              <a:rPr lang="en-US" sz="3102" b="true">
                <a:solidFill>
                  <a:srgbClr val="031122"/>
                </a:solidFill>
                <a:latin typeface="Agrandir Tight Medium"/>
                <a:ea typeface="Agrandir Tight Medium"/>
                <a:cs typeface="Agrandir Tight Medium"/>
                <a:sym typeface="Agrandir Tight Medium"/>
              </a:rPr>
              <a:t>React    Python/Flask    SQLite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9962" y="7739184"/>
            <a:ext cx="7078841" cy="2316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838">
                <a:solidFill>
                  <a:srgbClr val="031122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2838" b="true">
                <a:solidFill>
                  <a:srgbClr val="03112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resented by:</a:t>
            </a:r>
          </a:p>
          <a:p>
            <a:pPr algn="l">
              <a:lnSpc>
                <a:spcPts val="3687"/>
              </a:lnSpc>
            </a:pPr>
            <a:r>
              <a:rPr lang="en-US" sz="2838">
                <a:solidFill>
                  <a:srgbClr val="031122"/>
                </a:solidFill>
                <a:latin typeface="Canva Sans"/>
                <a:ea typeface="Canva Sans"/>
                <a:cs typeface="Canva Sans"/>
                <a:sym typeface="Canva Sans"/>
              </a:rPr>
              <a:t>A. Lavanya -25MVCSMR0`85</a:t>
            </a:r>
          </a:p>
          <a:p>
            <a:pPr algn="l">
              <a:lnSpc>
                <a:spcPts val="3687"/>
              </a:lnSpc>
            </a:pPr>
            <a:r>
              <a:rPr lang="en-US" sz="2838">
                <a:solidFill>
                  <a:srgbClr val="031122"/>
                </a:solidFill>
                <a:latin typeface="Canva Sans"/>
                <a:ea typeface="Canva Sans"/>
                <a:cs typeface="Canva Sans"/>
                <a:sym typeface="Canva Sans"/>
              </a:rPr>
              <a:t> S. Aashritha - 25MVCSMR0264</a:t>
            </a:r>
          </a:p>
          <a:p>
            <a:pPr algn="l">
              <a:lnSpc>
                <a:spcPts val="3687"/>
              </a:lnSpc>
            </a:pPr>
            <a:r>
              <a:rPr lang="en-US" sz="2838">
                <a:solidFill>
                  <a:srgbClr val="031122"/>
                </a:solidFill>
                <a:latin typeface="Canva Sans"/>
                <a:ea typeface="Canva Sans"/>
                <a:cs typeface="Canva Sans"/>
                <a:sym typeface="Canva Sans"/>
              </a:rPr>
              <a:t>M. Sai Manogna - 25MVCSMR0245</a:t>
            </a:r>
          </a:p>
          <a:p>
            <a:pPr algn="l">
              <a:lnSpc>
                <a:spcPts val="3689"/>
              </a:lnSpc>
            </a:pPr>
            <a:r>
              <a:rPr lang="en-US" sz="2838">
                <a:solidFill>
                  <a:srgbClr val="031122"/>
                </a:solidFill>
                <a:latin typeface="Canva Sans"/>
                <a:ea typeface="Canva Sans"/>
                <a:cs typeface="Canva Sans"/>
                <a:sym typeface="Canva Sans"/>
              </a:rPr>
              <a:t>Waheda Zeenath- -25MVCSMR0273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581512" cy="10287000"/>
          </a:xfrm>
          <a:custGeom>
            <a:avLst/>
            <a:gdLst/>
            <a:ahLst/>
            <a:cxnLst/>
            <a:rect r="r" b="b" t="t" l="l"/>
            <a:pathLst>
              <a:path h="10287000" w="9581512">
                <a:moveTo>
                  <a:pt x="0" y="0"/>
                </a:moveTo>
                <a:lnTo>
                  <a:pt x="9581512" y="0"/>
                </a:lnTo>
                <a:lnTo>
                  <a:pt x="958151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22394" y="394522"/>
            <a:ext cx="10631240" cy="1411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9"/>
              </a:lnSpc>
            </a:pPr>
            <a:r>
              <a:rPr lang="en-US" b="true" sz="7392">
                <a:solidFill>
                  <a:srgbClr val="FFFFFF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PROBLEM STATEMENT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706488" y="3214004"/>
            <a:ext cx="2406316" cy="3432644"/>
          </a:xfrm>
          <a:custGeom>
            <a:avLst/>
            <a:gdLst/>
            <a:ahLst/>
            <a:cxnLst/>
            <a:rect r="r" b="b" t="t" l="l"/>
            <a:pathLst>
              <a:path h="3432644" w="2406316">
                <a:moveTo>
                  <a:pt x="0" y="0"/>
                </a:moveTo>
                <a:lnTo>
                  <a:pt x="2406316" y="0"/>
                </a:lnTo>
                <a:lnTo>
                  <a:pt x="2406316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01866" y="4711687"/>
            <a:ext cx="875024" cy="655919"/>
          </a:xfrm>
          <a:custGeom>
            <a:avLst/>
            <a:gdLst/>
            <a:ahLst/>
            <a:cxnLst/>
            <a:rect r="r" b="b" t="t" l="l"/>
            <a:pathLst>
              <a:path h="655919" w="875024">
                <a:moveTo>
                  <a:pt x="0" y="0"/>
                </a:moveTo>
                <a:lnTo>
                  <a:pt x="875024" y="0"/>
                </a:lnTo>
                <a:lnTo>
                  <a:pt x="87502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032112" y="7076308"/>
            <a:ext cx="1871125" cy="88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"/>
              </a:lnSpc>
            </a:pPr>
            <a:r>
              <a:rPr lang="en-US" b="true" sz="2575">
                <a:solidFill>
                  <a:srgbClr val="FFFFFF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MANY</a:t>
            </a:r>
          </a:p>
          <a:p>
            <a:pPr algn="ctr">
              <a:lnSpc>
                <a:spcPts val="3347"/>
              </a:lnSpc>
            </a:pPr>
            <a:r>
              <a:rPr lang="en-US" b="true" sz="2575">
                <a:solidFill>
                  <a:srgbClr val="FFFFFF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CANDIDATES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965952" y="3640352"/>
            <a:ext cx="3062584" cy="2798589"/>
          </a:xfrm>
          <a:custGeom>
            <a:avLst/>
            <a:gdLst/>
            <a:ahLst/>
            <a:cxnLst/>
            <a:rect r="r" b="b" t="t" l="l"/>
            <a:pathLst>
              <a:path h="2798589" w="3062584">
                <a:moveTo>
                  <a:pt x="0" y="0"/>
                </a:moveTo>
                <a:lnTo>
                  <a:pt x="3062584" y="0"/>
                </a:lnTo>
                <a:lnTo>
                  <a:pt x="3062584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494194" y="4484643"/>
            <a:ext cx="2090531" cy="1278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1"/>
              </a:lnSpc>
            </a:pPr>
            <a:r>
              <a:rPr lang="en-US" b="true" sz="3366">
                <a:solidFill>
                  <a:srgbClr val="FFFFFF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SELECTION</a:t>
            </a:r>
          </a:p>
          <a:p>
            <a:pPr algn="ctr">
              <a:lnSpc>
                <a:spcPts val="4881"/>
              </a:lnSpc>
            </a:pPr>
            <a:r>
              <a:rPr lang="en-US" b="true" sz="3366">
                <a:solidFill>
                  <a:srgbClr val="FFFFFF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SYSTEM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017598" y="4711687"/>
            <a:ext cx="885962" cy="655919"/>
          </a:xfrm>
          <a:custGeom>
            <a:avLst/>
            <a:gdLst/>
            <a:ahLst/>
            <a:cxnLst/>
            <a:rect r="r" b="b" t="t" l="l"/>
            <a:pathLst>
              <a:path h="655919" w="885962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100440" y="4285339"/>
            <a:ext cx="1760986" cy="1716322"/>
          </a:xfrm>
          <a:custGeom>
            <a:avLst/>
            <a:gdLst/>
            <a:ahLst/>
            <a:cxnLst/>
            <a:rect r="r" b="b" t="t" l="l"/>
            <a:pathLst>
              <a:path h="1716322" w="1760986">
                <a:moveTo>
                  <a:pt x="0" y="0"/>
                </a:moveTo>
                <a:lnTo>
                  <a:pt x="1760986" y="0"/>
                </a:lnTo>
                <a:lnTo>
                  <a:pt x="1760986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903059" y="7066599"/>
            <a:ext cx="1949173" cy="927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0"/>
              </a:lnSpc>
            </a:pPr>
            <a:r>
              <a:rPr lang="en-US" b="true" sz="2654">
                <a:solidFill>
                  <a:srgbClr val="FFFFFF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SELECTED</a:t>
            </a:r>
          </a:p>
          <a:p>
            <a:pPr algn="ctr">
              <a:lnSpc>
                <a:spcPts val="3450"/>
              </a:lnSpc>
            </a:pPr>
            <a:r>
              <a:rPr lang="en-US" b="true" sz="2654">
                <a:solidFill>
                  <a:srgbClr val="FFFFFF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CANDIDATES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39238" y="4652327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34431" y="3155739"/>
            <a:ext cx="7714807" cy="4427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Rank and select scholarship candidate using marks, fianancial needs and eligibility constraints while maximizing fairness or coverage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6693" y="541393"/>
            <a:ext cx="7587757" cy="1024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3"/>
              </a:lnSpc>
            </a:pPr>
            <a:r>
              <a:rPr lang="en-US" b="true" sz="6463" spc="-129">
                <a:solidFill>
                  <a:srgbClr val="FFFFFF">
                    <a:alpha val="94902"/>
                  </a:srgbClr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PROPOSED SOLUTION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26574" y="2776725"/>
            <a:ext cx="2187560" cy="2153601"/>
          </a:xfrm>
          <a:custGeom>
            <a:avLst/>
            <a:gdLst/>
            <a:ahLst/>
            <a:cxnLst/>
            <a:rect r="r" b="b" t="t" l="l"/>
            <a:pathLst>
              <a:path h="2153601" w="2187560">
                <a:moveTo>
                  <a:pt x="0" y="0"/>
                </a:moveTo>
                <a:lnTo>
                  <a:pt x="2187560" y="0"/>
                </a:lnTo>
                <a:lnTo>
                  <a:pt x="218756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89437" y="3443349"/>
            <a:ext cx="1358816" cy="770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3"/>
              </a:lnSpc>
            </a:pPr>
            <a:r>
              <a:rPr lang="en-US" b="true" sz="2271" spc="-45">
                <a:solidFill>
                  <a:srgbClr val="FFFFFF">
                    <a:alpha val="94902"/>
                  </a:srgbClr>
                </a:solidFill>
                <a:latin typeface="Agrandir Tight Medium"/>
                <a:ea typeface="Agrandir Tight Medium"/>
                <a:cs typeface="Agrandir Tight Medium"/>
                <a:sym typeface="Agrandir Tight Medium"/>
              </a:rPr>
              <a:t>CANDIDATE DATA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603196" y="2776725"/>
            <a:ext cx="1968804" cy="2153601"/>
          </a:xfrm>
          <a:custGeom>
            <a:avLst/>
            <a:gdLst/>
            <a:ahLst/>
            <a:cxnLst/>
            <a:rect r="r" b="b" t="t" l="l"/>
            <a:pathLst>
              <a:path h="2153601" w="1968804">
                <a:moveTo>
                  <a:pt x="0" y="0"/>
                </a:moveTo>
                <a:lnTo>
                  <a:pt x="1968804" y="0"/>
                </a:lnTo>
                <a:lnTo>
                  <a:pt x="196880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05970" y="3416475"/>
            <a:ext cx="1348624" cy="81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b="true" sz="2351" spc="-47">
                <a:solidFill>
                  <a:srgbClr val="FFFFFF">
                    <a:alpha val="94902"/>
                  </a:srgbClr>
                </a:solidFill>
                <a:latin typeface="Agrandir Tight Medium"/>
                <a:ea typeface="Agrandir Tight Medium"/>
                <a:cs typeface="Agrandir Tight Medium"/>
                <a:sym typeface="Agrandir Tight Medium"/>
              </a:rPr>
              <a:t>ELIGIBILITY CHECK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779818" y="2776725"/>
            <a:ext cx="1979742" cy="2153601"/>
          </a:xfrm>
          <a:custGeom>
            <a:avLst/>
            <a:gdLst/>
            <a:ahLst/>
            <a:cxnLst/>
            <a:rect r="r" b="b" t="t" l="l"/>
            <a:pathLst>
              <a:path h="2153601" w="1979742">
                <a:moveTo>
                  <a:pt x="0" y="0"/>
                </a:moveTo>
                <a:lnTo>
                  <a:pt x="1979742" y="0"/>
                </a:lnTo>
                <a:lnTo>
                  <a:pt x="197974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282208" y="3443349"/>
            <a:ext cx="1083469" cy="770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3"/>
              </a:lnSpc>
            </a:pPr>
            <a:r>
              <a:rPr lang="en-US" b="true" sz="2271" spc="-45">
                <a:solidFill>
                  <a:srgbClr val="FFFFFF">
                    <a:alpha val="94902"/>
                  </a:srgbClr>
                </a:solidFill>
                <a:latin typeface="Agrandir Tight Medium"/>
                <a:ea typeface="Agrandir Tight Medium"/>
                <a:cs typeface="Agrandir Tight Medium"/>
                <a:sym typeface="Agrandir Tight Medium"/>
              </a:rPr>
              <a:t>PRIORITY SCORE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956440" y="2776725"/>
            <a:ext cx="1979742" cy="2153601"/>
          </a:xfrm>
          <a:custGeom>
            <a:avLst/>
            <a:gdLst/>
            <a:ahLst/>
            <a:cxnLst/>
            <a:rect r="r" b="b" t="t" l="l"/>
            <a:pathLst>
              <a:path h="2153601" w="1979742">
                <a:moveTo>
                  <a:pt x="0" y="0"/>
                </a:moveTo>
                <a:lnTo>
                  <a:pt x="1979742" y="0"/>
                </a:lnTo>
                <a:lnTo>
                  <a:pt x="197974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429043" y="3593244"/>
            <a:ext cx="1076048" cy="413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7"/>
              </a:lnSpc>
            </a:pPr>
            <a:r>
              <a:rPr lang="en-US" b="true" sz="2267" spc="-45">
                <a:solidFill>
                  <a:srgbClr val="FFFFFF">
                    <a:alpha val="94902"/>
                  </a:srgbClr>
                </a:solidFill>
                <a:latin typeface="Agrandir Tight Medium"/>
                <a:ea typeface="Agrandir Tight Medium"/>
                <a:cs typeface="Agrandir Tight Medium"/>
                <a:sym typeface="Agrandir Tight Medium"/>
              </a:rPr>
              <a:t>SORTING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144000" y="2776725"/>
            <a:ext cx="2187560" cy="2153601"/>
          </a:xfrm>
          <a:custGeom>
            <a:avLst/>
            <a:gdLst/>
            <a:ahLst/>
            <a:cxnLst/>
            <a:rect r="r" b="b" t="t" l="l"/>
            <a:pathLst>
              <a:path h="2153601" w="2187560">
                <a:moveTo>
                  <a:pt x="0" y="0"/>
                </a:moveTo>
                <a:lnTo>
                  <a:pt x="2187560" y="0"/>
                </a:lnTo>
                <a:lnTo>
                  <a:pt x="218756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322594" y="3152911"/>
            <a:ext cx="1794867" cy="1415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8"/>
              </a:lnSpc>
            </a:pPr>
            <a:r>
              <a:rPr lang="en-US" b="true" sz="2122" spc="-42">
                <a:solidFill>
                  <a:srgbClr val="FFFFFF">
                    <a:alpha val="94902"/>
                  </a:srgbClr>
                </a:solidFill>
                <a:latin typeface="Agrandir Tight Medium"/>
                <a:ea typeface="Agrandir Tight Medium"/>
                <a:cs typeface="Agrandir Tight Medium"/>
                <a:sym typeface="Agrandir Tight Medium"/>
              </a:rPr>
              <a:t>GREEDY SELECTION + DYNAMIC PROGRAMMING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528440" y="2776725"/>
            <a:ext cx="1979742" cy="2153601"/>
          </a:xfrm>
          <a:custGeom>
            <a:avLst/>
            <a:gdLst/>
            <a:ahLst/>
            <a:cxnLst/>
            <a:rect r="r" b="b" t="t" l="l"/>
            <a:pathLst>
              <a:path h="2153601" w="1979742">
                <a:moveTo>
                  <a:pt x="0" y="0"/>
                </a:moveTo>
                <a:lnTo>
                  <a:pt x="1979742" y="0"/>
                </a:lnTo>
                <a:lnTo>
                  <a:pt x="197974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626453" y="3570579"/>
            <a:ext cx="1660922" cy="60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b="true" sz="1922" spc="-38">
                <a:solidFill>
                  <a:srgbClr val="FFFFFF">
                    <a:alpha val="94902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ALGORITHM COMPARISON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3497244" y="2776725"/>
            <a:ext cx="2187560" cy="2153601"/>
          </a:xfrm>
          <a:custGeom>
            <a:avLst/>
            <a:gdLst/>
            <a:ahLst/>
            <a:cxnLst/>
            <a:rect r="r" b="b" t="t" l="l"/>
            <a:pathLst>
              <a:path h="2153601" w="2187560">
                <a:moveTo>
                  <a:pt x="0" y="0"/>
                </a:moveTo>
                <a:lnTo>
                  <a:pt x="2187560" y="0"/>
                </a:lnTo>
                <a:lnTo>
                  <a:pt x="218756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3897430" y="3416475"/>
            <a:ext cx="1318422" cy="81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b="true" sz="2351" spc="-47">
                <a:solidFill>
                  <a:srgbClr val="FFFFFF">
                    <a:alpha val="94902"/>
                  </a:srgbClr>
                </a:solidFill>
                <a:latin typeface="Agrandir Tight Medium"/>
                <a:ea typeface="Agrandir Tight Medium"/>
                <a:cs typeface="Agrandir Tight Medium"/>
                <a:sym typeface="Agrandir Tight Medium"/>
              </a:rPr>
              <a:t>FINAL SELECTION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5673866" y="2776725"/>
            <a:ext cx="2187560" cy="2153601"/>
          </a:xfrm>
          <a:custGeom>
            <a:avLst/>
            <a:gdLst/>
            <a:ahLst/>
            <a:cxnLst/>
            <a:rect r="r" b="b" t="t" l="l"/>
            <a:pathLst>
              <a:path h="2153601" w="2187560">
                <a:moveTo>
                  <a:pt x="0" y="0"/>
                </a:moveTo>
                <a:lnTo>
                  <a:pt x="2187560" y="0"/>
                </a:lnTo>
                <a:lnTo>
                  <a:pt x="218756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5927817" y="3416475"/>
            <a:ext cx="1675164" cy="81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b="true" sz="2351" spc="-47">
                <a:solidFill>
                  <a:srgbClr val="FFFFFF">
                    <a:alpha val="94902"/>
                  </a:srgbClr>
                </a:solidFill>
                <a:latin typeface="Agrandir Tight Medium"/>
                <a:ea typeface="Agrandir Tight Medium"/>
                <a:cs typeface="Agrandir Tight Medium"/>
                <a:sym typeface="Agrandir Tight Medium"/>
              </a:rPr>
              <a:t>RESULT + EXPLANATION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2384440" y="3640352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572000" y="3640352"/>
            <a:ext cx="437512" cy="437279"/>
          </a:xfrm>
          <a:custGeom>
            <a:avLst/>
            <a:gdLst/>
            <a:ahLst/>
            <a:cxnLst/>
            <a:rect r="r" b="b" t="t" l="l"/>
            <a:pathLst>
              <a:path h="437279" w="437512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529866" y="3640352"/>
            <a:ext cx="656268" cy="437279"/>
          </a:xfrm>
          <a:custGeom>
            <a:avLst/>
            <a:gdLst/>
            <a:ahLst/>
            <a:cxnLst/>
            <a:rect r="r" b="b" t="t" l="l"/>
            <a:pathLst>
              <a:path h="437279" w="656268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706488" y="3640352"/>
            <a:ext cx="656268" cy="437279"/>
          </a:xfrm>
          <a:custGeom>
            <a:avLst/>
            <a:gdLst/>
            <a:ahLst/>
            <a:cxnLst/>
            <a:rect r="r" b="b" t="t" l="l"/>
            <a:pathLst>
              <a:path h="437279" w="656268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101866" y="3640352"/>
            <a:ext cx="437512" cy="437279"/>
          </a:xfrm>
          <a:custGeom>
            <a:avLst/>
            <a:gdLst/>
            <a:ahLst/>
            <a:cxnLst/>
            <a:rect r="r" b="b" t="t" l="l"/>
            <a:pathLst>
              <a:path h="437279" w="437512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278488" y="3640352"/>
            <a:ext cx="437512" cy="437279"/>
          </a:xfrm>
          <a:custGeom>
            <a:avLst/>
            <a:gdLst/>
            <a:ahLst/>
            <a:cxnLst/>
            <a:rect r="r" b="b" t="t" l="l"/>
            <a:pathLst>
              <a:path h="437279" w="437512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455110" y="3640352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426574" y="6209369"/>
            <a:ext cx="17434852" cy="3006296"/>
          </a:xfrm>
          <a:custGeom>
            <a:avLst/>
            <a:gdLst/>
            <a:ahLst/>
            <a:cxnLst/>
            <a:rect r="r" b="b" t="t" l="l"/>
            <a:pathLst>
              <a:path h="3006296" w="17434852">
                <a:moveTo>
                  <a:pt x="0" y="0"/>
                </a:moveTo>
                <a:lnTo>
                  <a:pt x="17434852" y="0"/>
                </a:lnTo>
                <a:lnTo>
                  <a:pt x="17434852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241178" y="6829933"/>
            <a:ext cx="1790762" cy="1531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1"/>
              </a:lnSpc>
            </a:pPr>
            <a:r>
              <a:rPr lang="en-US" b="true" sz="3234" spc="-64">
                <a:solidFill>
                  <a:srgbClr val="031122"/>
                </a:solidFill>
                <a:latin typeface="Agrandir Tight Medium"/>
                <a:ea typeface="Agrandir Tight Medium"/>
                <a:cs typeface="Agrandir Tight Medium"/>
                <a:sym typeface="Agrandir Tight Medium"/>
              </a:rPr>
              <a:t>Automated eligibility checking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3259464" y="6635716"/>
            <a:ext cx="229694" cy="2153601"/>
          </a:xfrm>
          <a:custGeom>
            <a:avLst/>
            <a:gdLst/>
            <a:ahLst/>
            <a:cxnLst/>
            <a:rect r="r" b="b" t="t" l="l"/>
            <a:pathLst>
              <a:path h="2153601" w="229694">
                <a:moveTo>
                  <a:pt x="0" y="0"/>
                </a:moveTo>
                <a:lnTo>
                  <a:pt x="229694" y="0"/>
                </a:lnTo>
                <a:lnTo>
                  <a:pt x="229694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3922242" y="7046321"/>
            <a:ext cx="1574978" cy="1023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3"/>
              </a:lnSpc>
            </a:pPr>
            <a:r>
              <a:rPr lang="en-US" b="true" sz="3102" spc="-62">
                <a:solidFill>
                  <a:srgbClr val="031122"/>
                </a:solidFill>
                <a:latin typeface="Agrandir Tight Medium"/>
                <a:ea typeface="Agrandir Tight Medium"/>
                <a:cs typeface="Agrandir Tight Medium"/>
                <a:sym typeface="Agrandir Tight Medium"/>
              </a:rPr>
              <a:t>Candidate ranking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5873598" y="6635716"/>
            <a:ext cx="229694" cy="2153601"/>
          </a:xfrm>
          <a:custGeom>
            <a:avLst/>
            <a:gdLst/>
            <a:ahLst/>
            <a:cxnLst/>
            <a:rect r="r" b="b" t="t" l="l"/>
            <a:pathLst>
              <a:path h="2153601" w="229694">
                <a:moveTo>
                  <a:pt x="0" y="0"/>
                </a:moveTo>
                <a:lnTo>
                  <a:pt x="229694" y="0"/>
                </a:lnTo>
                <a:lnTo>
                  <a:pt x="229694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6354368" y="7083220"/>
            <a:ext cx="2142845" cy="96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5"/>
              </a:lnSpc>
            </a:pPr>
            <a:r>
              <a:rPr lang="en-US" b="true" sz="2970" spc="-59">
                <a:solidFill>
                  <a:srgbClr val="031122"/>
                </a:solidFill>
                <a:latin typeface="Agrandir Tight Medium"/>
                <a:ea typeface="Agrandir Tight Medium"/>
                <a:cs typeface="Agrandir Tight Medium"/>
                <a:sym typeface="Agrandir Tight Medium"/>
              </a:rPr>
              <a:t>Budget-aware selection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8706488" y="6635716"/>
            <a:ext cx="229694" cy="2153601"/>
          </a:xfrm>
          <a:custGeom>
            <a:avLst/>
            <a:gdLst/>
            <a:ahLst/>
            <a:cxnLst/>
            <a:rect r="r" b="b" t="t" l="l"/>
            <a:pathLst>
              <a:path h="2153601" w="229694">
                <a:moveTo>
                  <a:pt x="0" y="0"/>
                </a:moveTo>
                <a:lnTo>
                  <a:pt x="229694" y="0"/>
                </a:lnTo>
                <a:lnTo>
                  <a:pt x="229694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9295992" y="6639678"/>
            <a:ext cx="2660203" cy="1951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3"/>
              </a:lnSpc>
            </a:pPr>
            <a:r>
              <a:rPr lang="en-US" b="true" sz="3102" spc="-62">
                <a:solidFill>
                  <a:srgbClr val="031122"/>
                </a:solidFill>
                <a:latin typeface="Agrandir Tight Medium"/>
                <a:ea typeface="Agrandir Tight Medium"/>
                <a:cs typeface="Agrandir Tight Medium"/>
                <a:sym typeface="Agrandir Tight Medium"/>
              </a:rPr>
              <a:t>Greedy algorithm and dynamic programming methods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2184708" y="6635716"/>
            <a:ext cx="229694" cy="2153601"/>
          </a:xfrm>
          <a:custGeom>
            <a:avLst/>
            <a:gdLst/>
            <a:ahLst/>
            <a:cxnLst/>
            <a:rect r="r" b="b" t="t" l="l"/>
            <a:pathLst>
              <a:path h="2153601" w="229694">
                <a:moveTo>
                  <a:pt x="0" y="0"/>
                </a:moveTo>
                <a:lnTo>
                  <a:pt x="229694" y="0"/>
                </a:lnTo>
                <a:lnTo>
                  <a:pt x="229694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2706924" y="7046321"/>
            <a:ext cx="1788082" cy="1023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3"/>
              </a:lnSpc>
            </a:pPr>
            <a:r>
              <a:rPr lang="en-US" b="true" sz="3102" spc="-62">
                <a:solidFill>
                  <a:srgbClr val="031122"/>
                </a:solidFill>
                <a:latin typeface="Agrandir Tight Medium"/>
                <a:ea typeface="Agrandir Tight Medium"/>
                <a:cs typeface="Agrandir Tight Medium"/>
                <a:sym typeface="Agrandir Tight Medium"/>
              </a:rPr>
              <a:t>Explainable results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4798842" y="6635716"/>
            <a:ext cx="229694" cy="2153601"/>
          </a:xfrm>
          <a:custGeom>
            <a:avLst/>
            <a:gdLst/>
            <a:ahLst/>
            <a:cxnLst/>
            <a:rect r="r" b="b" t="t" l="l"/>
            <a:pathLst>
              <a:path h="2153601" w="229694">
                <a:moveTo>
                  <a:pt x="0" y="0"/>
                </a:moveTo>
                <a:lnTo>
                  <a:pt x="229694" y="0"/>
                </a:lnTo>
                <a:lnTo>
                  <a:pt x="229694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5415742" y="7064170"/>
            <a:ext cx="1475804" cy="1009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6" spc="-60" b="true">
                <a:solidFill>
                  <a:srgbClr val="031122"/>
                </a:solidFill>
                <a:latin typeface="Agrandir Tight Medium"/>
                <a:ea typeface="Agrandir Tight Medium"/>
                <a:cs typeface="Agrandir Tight Medium"/>
                <a:sym typeface="Agrandir Tight Medium"/>
              </a:rPr>
              <a:t>Coverage analysis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4298" y="641540"/>
            <a:ext cx="9506173" cy="818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18"/>
              </a:lnSpc>
            </a:pPr>
            <a:r>
              <a:rPr lang="en-US" sz="6118" b="true">
                <a:solidFill>
                  <a:srgbClr val="FFFFFF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SYSTEM ARCHITECTURE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85875" y="1949154"/>
            <a:ext cx="3696891" cy="84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 spc="45">
                <a:solidFill>
                  <a:srgbClr val="FFFFFF">
                    <a:alpha val="89804"/>
                  </a:srgbClr>
                </a:solidFill>
                <a:latin typeface="Agrandir Tight"/>
                <a:ea typeface="Agrandir Tight"/>
                <a:cs typeface="Agrandir Tight"/>
                <a:sym typeface="Agrandir Tight"/>
              </a:rPr>
              <a:t>User-friendly interface for</a:t>
            </a:r>
          </a:p>
          <a:p>
            <a:pPr algn="l">
              <a:lnSpc>
                <a:spcPts val="3156"/>
              </a:lnSpc>
            </a:pPr>
            <a:r>
              <a:rPr lang="en-US" sz="2254" spc="45">
                <a:solidFill>
                  <a:srgbClr val="FFFFFF">
                    <a:alpha val="89804"/>
                  </a:srgbClr>
                </a:solidFill>
                <a:latin typeface="Agrandir Tight"/>
                <a:ea typeface="Agrandir Tight"/>
                <a:cs typeface="Agrandir Tight"/>
                <a:sym typeface="Agrandir Tight"/>
              </a:rPr>
              <a:t>input and interaction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85875" y="3500420"/>
            <a:ext cx="3696891" cy="84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 spc="45">
                <a:solidFill>
                  <a:srgbClr val="FFFFFF">
                    <a:alpha val="89804"/>
                  </a:srgbClr>
                </a:solidFill>
                <a:latin typeface="Agrandir Tight"/>
                <a:ea typeface="Agrandir Tight"/>
                <a:cs typeface="Agrandir Tight"/>
                <a:sym typeface="Agrandir Tight"/>
              </a:rPr>
              <a:t>Handles requests, processes</a:t>
            </a:r>
          </a:p>
          <a:p>
            <a:pPr algn="l">
              <a:lnSpc>
                <a:spcPts val="3156"/>
              </a:lnSpc>
            </a:pPr>
            <a:r>
              <a:rPr lang="en-US" sz="2254" spc="45">
                <a:solidFill>
                  <a:srgbClr val="FFFFFF">
                    <a:alpha val="89804"/>
                  </a:srgbClr>
                </a:solidFill>
                <a:latin typeface="Agrandir Tight"/>
                <a:ea typeface="Agrandir Tight"/>
                <a:cs typeface="Agrandir Tight"/>
                <a:sym typeface="Agrandir Tight"/>
              </a:rPr>
              <a:t>logic and coordinates workflow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85875" y="5337843"/>
            <a:ext cx="3696891" cy="84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 spc="45">
                <a:solidFill>
                  <a:srgbClr val="FFFFFF">
                    <a:alpha val="89804"/>
                  </a:srgbClr>
                </a:solidFill>
                <a:latin typeface="Agrandir Tight"/>
                <a:ea typeface="Agrandir Tight"/>
                <a:cs typeface="Agrandir Tight"/>
                <a:sym typeface="Agrandir Tight"/>
              </a:rPr>
              <a:t>Core engine applies algorithms</a:t>
            </a:r>
          </a:p>
          <a:p>
            <a:pPr algn="l">
              <a:lnSpc>
                <a:spcPts val="3156"/>
              </a:lnSpc>
            </a:pPr>
            <a:r>
              <a:rPr lang="en-US" sz="2254" spc="45">
                <a:solidFill>
                  <a:srgbClr val="FFFFFF">
                    <a:alpha val="89804"/>
                  </a:srgbClr>
                </a:solidFill>
                <a:latin typeface="Agrandir Tight"/>
                <a:ea typeface="Agrandir Tight"/>
                <a:cs typeface="Agrandir Tight"/>
                <a:sym typeface="Agrandir Tight"/>
              </a:rPr>
              <a:t>to rank and select candidates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85875" y="7280691"/>
            <a:ext cx="3696891" cy="84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 spc="45">
                <a:solidFill>
                  <a:srgbClr val="FFFFFF">
                    <a:alpha val="89804"/>
                  </a:srgbClr>
                </a:solidFill>
                <a:latin typeface="Agrandir Tight"/>
                <a:ea typeface="Agrandir Tight"/>
                <a:cs typeface="Agrandir Tight"/>
                <a:sym typeface="Agrandir Tight"/>
              </a:rPr>
              <a:t>Stores candidate data,</a:t>
            </a:r>
          </a:p>
          <a:p>
            <a:pPr algn="l">
              <a:lnSpc>
                <a:spcPts val="3156"/>
              </a:lnSpc>
            </a:pPr>
            <a:r>
              <a:rPr lang="en-US" sz="2254" spc="45">
                <a:solidFill>
                  <a:srgbClr val="FFFFFF">
                    <a:alpha val="89804"/>
                  </a:srgbClr>
                </a:solidFill>
                <a:latin typeface="Agrandir Tight"/>
                <a:ea typeface="Agrandir Tight"/>
                <a:cs typeface="Agrandir Tight"/>
                <a:sym typeface="Agrandir Tight"/>
              </a:rPr>
              <a:t>criteria and results securely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85875" y="8892201"/>
            <a:ext cx="3696891" cy="84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 spc="45">
                <a:solidFill>
                  <a:srgbClr val="FFFFFF">
                    <a:alpha val="89804"/>
                  </a:srgbClr>
                </a:solidFill>
                <a:latin typeface="Agrandir Tight"/>
                <a:ea typeface="Agrandir Tight"/>
                <a:cs typeface="Agrandir Tight"/>
                <a:sym typeface="Agrandir Tight"/>
              </a:rPr>
              <a:t>Provides final results and</a:t>
            </a:r>
          </a:p>
          <a:p>
            <a:pPr algn="l">
              <a:lnSpc>
                <a:spcPts val="3156"/>
              </a:lnSpc>
            </a:pPr>
            <a:r>
              <a:rPr lang="en-US" sz="2254" spc="45">
                <a:solidFill>
                  <a:srgbClr val="FFFFFF">
                    <a:alpha val="89804"/>
                  </a:srgbClr>
                </a:solidFill>
                <a:latin typeface="Agrandir Tight"/>
                <a:ea typeface="Agrandir Tight"/>
                <a:cs typeface="Agrandir Tight"/>
                <a:sym typeface="Agrandir Tight"/>
              </a:rPr>
              <a:t>insights for decision making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436086" y="1705390"/>
            <a:ext cx="9373694" cy="1519546"/>
          </a:xfrm>
          <a:custGeom>
            <a:avLst/>
            <a:gdLst/>
            <a:ahLst/>
            <a:cxnLst/>
            <a:rect r="r" b="b" t="t" l="l"/>
            <a:pathLst>
              <a:path h="1519546" w="9373694">
                <a:moveTo>
                  <a:pt x="0" y="0"/>
                </a:moveTo>
                <a:lnTo>
                  <a:pt x="9373694" y="0"/>
                </a:lnTo>
                <a:lnTo>
                  <a:pt x="9373694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873598" y="1924030"/>
            <a:ext cx="885962" cy="863627"/>
          </a:xfrm>
          <a:custGeom>
            <a:avLst/>
            <a:gdLst/>
            <a:ahLst/>
            <a:cxnLst/>
            <a:rect r="r" b="b" t="t" l="l"/>
            <a:pathLst>
              <a:path h="863627" w="885962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518281" y="1923379"/>
            <a:ext cx="2742973" cy="511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3168" b="true">
                <a:solidFill>
                  <a:srgbClr val="FFFFFF">
                    <a:alpha val="89804"/>
                  </a:srgbClr>
                </a:solidFill>
                <a:latin typeface="Agrandir Tight Medium"/>
                <a:ea typeface="Agrandir Tight Medium"/>
                <a:cs typeface="Agrandir Tight Medium"/>
                <a:sym typeface="Agrandir Tight Medium"/>
              </a:rPr>
              <a:t>WEB INTERFACE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570574" y="2995365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436086" y="3214004"/>
            <a:ext cx="9373694" cy="1508614"/>
          </a:xfrm>
          <a:custGeom>
            <a:avLst/>
            <a:gdLst/>
            <a:ahLst/>
            <a:cxnLst/>
            <a:rect r="r" b="b" t="t" l="l"/>
            <a:pathLst>
              <a:path h="1508614" w="9373694">
                <a:moveTo>
                  <a:pt x="0" y="0"/>
                </a:moveTo>
                <a:lnTo>
                  <a:pt x="9373694" y="0"/>
                </a:lnTo>
                <a:lnTo>
                  <a:pt x="937369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873598" y="3421712"/>
            <a:ext cx="1093780" cy="1082267"/>
          </a:xfrm>
          <a:custGeom>
            <a:avLst/>
            <a:gdLst/>
            <a:ahLst/>
            <a:cxnLst/>
            <a:rect r="r" b="b" t="t" l="l"/>
            <a:pathLst>
              <a:path h="1082267" w="1093780">
                <a:moveTo>
                  <a:pt x="0" y="0"/>
                </a:moveTo>
                <a:lnTo>
                  <a:pt x="1093780" y="0"/>
                </a:lnTo>
                <a:lnTo>
                  <a:pt x="109378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011026" y="3580071"/>
            <a:ext cx="1688853" cy="511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3168" b="true">
                <a:solidFill>
                  <a:srgbClr val="FFFFFF">
                    <a:alpha val="89804"/>
                  </a:srgbClr>
                </a:solidFill>
                <a:latin typeface="Agrandir Tight Medium"/>
                <a:ea typeface="Agrandir Tight Medium"/>
                <a:cs typeface="Agrandir Tight Medium"/>
                <a:sym typeface="Agrandir Tight Medium"/>
              </a:rPr>
              <a:t>BACKEND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066219" y="4005435"/>
            <a:ext cx="1689326" cy="473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spc="48">
                <a:solidFill>
                  <a:srgbClr val="FFFFFF">
                    <a:alpha val="89804"/>
                  </a:srgbClr>
                </a:solidFill>
                <a:latin typeface="Agrandir Tight"/>
                <a:ea typeface="Agrandir Tight"/>
                <a:cs typeface="Agrandir Tight"/>
                <a:sym typeface="Agrandir Tight"/>
              </a:rPr>
              <a:t>Python / Flask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9570574" y="4493047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436086" y="4919394"/>
            <a:ext cx="9373694" cy="2153601"/>
          </a:xfrm>
          <a:custGeom>
            <a:avLst/>
            <a:gdLst/>
            <a:ahLst/>
            <a:cxnLst/>
            <a:rect r="r" b="b" t="t" l="l"/>
            <a:pathLst>
              <a:path h="2153601" w="9373694">
                <a:moveTo>
                  <a:pt x="0" y="0"/>
                </a:moveTo>
                <a:lnTo>
                  <a:pt x="9373694" y="0"/>
                </a:lnTo>
                <a:lnTo>
                  <a:pt x="9373694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350240" y="5176521"/>
            <a:ext cx="3473650" cy="511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3168" b="true">
                <a:solidFill>
                  <a:srgbClr val="FFFFFF">
                    <a:alpha val="89804"/>
                  </a:srgbClr>
                </a:solidFill>
                <a:latin typeface="Agrandir Tight Medium"/>
                <a:ea typeface="Agrandir Tight Medium"/>
                <a:cs typeface="Agrandir Tight Medium"/>
                <a:sym typeface="Agrandir Tight Medium"/>
              </a:rPr>
              <a:t>ALGORITHM ENGINE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5654842" y="5564382"/>
            <a:ext cx="1750048" cy="1300906"/>
          </a:xfrm>
          <a:custGeom>
            <a:avLst/>
            <a:gdLst/>
            <a:ahLst/>
            <a:cxnLst/>
            <a:rect r="r" b="b" t="t" l="l"/>
            <a:pathLst>
              <a:path h="1300906" w="1750048">
                <a:moveTo>
                  <a:pt x="0" y="0"/>
                </a:moveTo>
                <a:lnTo>
                  <a:pt x="1750048" y="0"/>
                </a:lnTo>
                <a:lnTo>
                  <a:pt x="175004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759648" y="5804729"/>
            <a:ext cx="1714500" cy="84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6"/>
              </a:lnSpc>
            </a:pPr>
            <a:r>
              <a:rPr lang="en-US" sz="2254" spc="45">
                <a:solidFill>
                  <a:srgbClr val="FFFFFF">
                    <a:alpha val="89804"/>
                  </a:srgbClr>
                </a:solidFill>
                <a:latin typeface="Agrandir Tight"/>
                <a:ea typeface="Agrandir Tight"/>
                <a:cs typeface="Agrandir Tight"/>
                <a:sym typeface="Agrandir Tight"/>
              </a:rPr>
              <a:t>Eligibility</a:t>
            </a:r>
          </a:p>
          <a:p>
            <a:pPr algn="ctr">
              <a:lnSpc>
                <a:spcPts val="3156"/>
              </a:lnSpc>
            </a:pPr>
            <a:r>
              <a:rPr lang="en-US" sz="2254" spc="45">
                <a:solidFill>
                  <a:srgbClr val="FFFFFF">
                    <a:alpha val="89804"/>
                  </a:srgbClr>
                </a:solidFill>
                <a:latin typeface="Agrandir Tight"/>
                <a:ea typeface="Agrandir Tight"/>
                <a:cs typeface="Agrandir Tight"/>
                <a:sym typeface="Agrandir Tight"/>
              </a:rPr>
              <a:t>Check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7393952" y="5564382"/>
            <a:ext cx="1750048" cy="1300906"/>
          </a:xfrm>
          <a:custGeom>
            <a:avLst/>
            <a:gdLst/>
            <a:ahLst/>
            <a:cxnLst/>
            <a:rect r="r" b="b" t="t" l="l"/>
            <a:pathLst>
              <a:path h="1300906" w="1750048">
                <a:moveTo>
                  <a:pt x="0" y="0"/>
                </a:moveTo>
                <a:lnTo>
                  <a:pt x="1750048" y="0"/>
                </a:lnTo>
                <a:lnTo>
                  <a:pt x="175004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7554516" y="5804729"/>
            <a:ext cx="1714500" cy="84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6"/>
              </a:lnSpc>
            </a:pPr>
            <a:r>
              <a:rPr lang="en-US" sz="2254" spc="45">
                <a:solidFill>
                  <a:srgbClr val="FFFFFF">
                    <a:alpha val="89804"/>
                  </a:srgbClr>
                </a:solidFill>
                <a:latin typeface="Agrandir Tight"/>
                <a:ea typeface="Agrandir Tight"/>
                <a:cs typeface="Agrandir Tight"/>
                <a:sym typeface="Agrandir Tight"/>
              </a:rPr>
              <a:t>Priority</a:t>
            </a:r>
          </a:p>
          <a:p>
            <a:pPr algn="ctr">
              <a:lnSpc>
                <a:spcPts val="3156"/>
              </a:lnSpc>
            </a:pPr>
            <a:r>
              <a:rPr lang="en-US" sz="2254" spc="45">
                <a:solidFill>
                  <a:srgbClr val="FFFFFF">
                    <a:alpha val="89804"/>
                  </a:srgbClr>
                </a:solidFill>
                <a:latin typeface="Agrandir Tight"/>
                <a:ea typeface="Agrandir Tight"/>
                <a:cs typeface="Agrandir Tight"/>
                <a:sym typeface="Agrandir Tight"/>
              </a:rPr>
              <a:t>Score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9144000" y="5564382"/>
            <a:ext cx="1750048" cy="1300906"/>
          </a:xfrm>
          <a:custGeom>
            <a:avLst/>
            <a:gdLst/>
            <a:ahLst/>
            <a:cxnLst/>
            <a:rect r="r" b="b" t="t" l="l"/>
            <a:pathLst>
              <a:path h="1300906" w="1750048">
                <a:moveTo>
                  <a:pt x="0" y="0"/>
                </a:moveTo>
                <a:lnTo>
                  <a:pt x="1750048" y="0"/>
                </a:lnTo>
                <a:lnTo>
                  <a:pt x="175004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242227" y="5985759"/>
            <a:ext cx="1714500" cy="4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sz="2454" spc="49">
                <a:solidFill>
                  <a:srgbClr val="FFFFFF">
                    <a:alpha val="89804"/>
                  </a:srgbClr>
                </a:solidFill>
                <a:latin typeface="Agrandir Tight"/>
                <a:ea typeface="Agrandir Tight"/>
                <a:cs typeface="Agrandir Tight"/>
                <a:sym typeface="Agrandir Tight"/>
              </a:rPr>
              <a:t>Sorting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0883110" y="5564382"/>
            <a:ext cx="1750048" cy="1300906"/>
          </a:xfrm>
          <a:custGeom>
            <a:avLst/>
            <a:gdLst/>
            <a:ahLst/>
            <a:cxnLst/>
            <a:rect r="r" b="b" t="t" l="l"/>
            <a:pathLst>
              <a:path h="1300906" w="1750048">
                <a:moveTo>
                  <a:pt x="0" y="0"/>
                </a:moveTo>
                <a:lnTo>
                  <a:pt x="1750048" y="0"/>
                </a:lnTo>
                <a:lnTo>
                  <a:pt x="175004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0956727" y="5804729"/>
            <a:ext cx="1714500" cy="84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6"/>
              </a:lnSpc>
            </a:pPr>
            <a:r>
              <a:rPr lang="en-US" sz="2254" spc="45">
                <a:solidFill>
                  <a:srgbClr val="FFFFFF">
                    <a:alpha val="89804"/>
                  </a:srgbClr>
                </a:solidFill>
                <a:latin typeface="Agrandir Tight"/>
                <a:ea typeface="Agrandir Tight"/>
                <a:cs typeface="Agrandir Tight"/>
                <a:sym typeface="Agrandir Tight"/>
              </a:rPr>
              <a:t>Greedy</a:t>
            </a:r>
          </a:p>
          <a:p>
            <a:pPr algn="ctr">
              <a:lnSpc>
                <a:spcPts val="3156"/>
              </a:lnSpc>
            </a:pPr>
            <a:r>
              <a:rPr lang="en-US" sz="2254" spc="45">
                <a:solidFill>
                  <a:srgbClr val="FFFFFF">
                    <a:alpha val="89804"/>
                  </a:srgbClr>
                </a:solidFill>
                <a:latin typeface="Agrandir Tight"/>
                <a:ea typeface="Agrandir Tight"/>
                <a:cs typeface="Agrandir Tight"/>
                <a:sym typeface="Agrandir Tight"/>
              </a:rPr>
              <a:t>Algorithm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2622220" y="5564382"/>
            <a:ext cx="1968804" cy="1300906"/>
          </a:xfrm>
          <a:custGeom>
            <a:avLst/>
            <a:gdLst/>
            <a:ahLst/>
            <a:cxnLst/>
            <a:rect r="r" b="b" t="t" l="l"/>
            <a:pathLst>
              <a:path h="1300906" w="1968804">
                <a:moveTo>
                  <a:pt x="0" y="0"/>
                </a:moveTo>
                <a:lnTo>
                  <a:pt x="1968804" y="0"/>
                </a:lnTo>
                <a:lnTo>
                  <a:pt x="196880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2671227" y="5804729"/>
            <a:ext cx="1928812" cy="84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6"/>
              </a:lnSpc>
            </a:pPr>
            <a:r>
              <a:rPr lang="en-US" sz="2254" spc="45">
                <a:solidFill>
                  <a:srgbClr val="FFFFFF">
                    <a:alpha val="89804"/>
                  </a:srgbClr>
                </a:solidFill>
                <a:latin typeface="Agrandir Tight"/>
                <a:ea typeface="Agrandir Tight"/>
                <a:cs typeface="Agrandir Tight"/>
                <a:sym typeface="Agrandir Tight"/>
              </a:rPr>
              <a:t>Dynamic</a:t>
            </a:r>
          </a:p>
          <a:p>
            <a:pPr algn="ctr">
              <a:lnSpc>
                <a:spcPts val="3156"/>
              </a:lnSpc>
            </a:pPr>
            <a:r>
              <a:rPr lang="en-US" sz="2254" spc="45">
                <a:solidFill>
                  <a:srgbClr val="FFFFFF">
                    <a:alpha val="89804"/>
                  </a:srgbClr>
                </a:solidFill>
                <a:latin typeface="Agrandir Tight"/>
                <a:ea typeface="Agrandir Tight"/>
                <a:cs typeface="Agrandir Tight"/>
                <a:sym typeface="Agrandir Tight"/>
              </a:rPr>
              <a:t>Programming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9570574" y="6854356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5436086" y="7062064"/>
            <a:ext cx="9373694" cy="1519546"/>
          </a:xfrm>
          <a:custGeom>
            <a:avLst/>
            <a:gdLst/>
            <a:ahLst/>
            <a:cxnLst/>
            <a:rect r="r" b="b" t="t" l="l"/>
            <a:pathLst>
              <a:path h="1519546" w="9373694">
                <a:moveTo>
                  <a:pt x="0" y="0"/>
                </a:moveTo>
                <a:lnTo>
                  <a:pt x="9373694" y="0"/>
                </a:lnTo>
                <a:lnTo>
                  <a:pt x="9373694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5873598" y="7280704"/>
            <a:ext cx="885962" cy="1082267"/>
          </a:xfrm>
          <a:custGeom>
            <a:avLst/>
            <a:gdLst/>
            <a:ahLst/>
            <a:cxnLst/>
            <a:rect r="r" b="b" t="t" l="l"/>
            <a:pathLst>
              <a:path h="1082267" w="885962">
                <a:moveTo>
                  <a:pt x="0" y="0"/>
                </a:moveTo>
                <a:lnTo>
                  <a:pt x="885962" y="0"/>
                </a:lnTo>
                <a:lnTo>
                  <a:pt x="88596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9009413" y="7390464"/>
            <a:ext cx="1850155" cy="511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3168" b="true">
                <a:solidFill>
                  <a:srgbClr val="FFFFFF">
                    <a:alpha val="89804"/>
                  </a:srgbClr>
                </a:solidFill>
                <a:latin typeface="Agrandir Tight Medium"/>
                <a:ea typeface="Agrandir Tight Medium"/>
                <a:cs typeface="Agrandir Tight Medium"/>
                <a:sym typeface="Agrandir Tight Medium"/>
              </a:rPr>
              <a:t>DATABASE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776810" y="7830889"/>
            <a:ext cx="2268144" cy="473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spc="48">
                <a:solidFill>
                  <a:srgbClr val="FFFFFF">
                    <a:alpha val="89804"/>
                  </a:srgbClr>
                </a:solidFill>
                <a:latin typeface="Agrandir Tight"/>
                <a:ea typeface="Agrandir Tight"/>
                <a:cs typeface="Agrandir Tight"/>
                <a:sym typeface="Agrandir Tight"/>
              </a:rPr>
              <a:t>SQLite / Supabase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9570574" y="8352038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5436086" y="8570678"/>
            <a:ext cx="9373694" cy="1508614"/>
          </a:xfrm>
          <a:custGeom>
            <a:avLst/>
            <a:gdLst/>
            <a:ahLst/>
            <a:cxnLst/>
            <a:rect r="r" b="b" t="t" l="l"/>
            <a:pathLst>
              <a:path h="1508614" w="9373694">
                <a:moveTo>
                  <a:pt x="0" y="0"/>
                </a:moveTo>
                <a:lnTo>
                  <a:pt x="9373694" y="0"/>
                </a:lnTo>
                <a:lnTo>
                  <a:pt x="937369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5873598" y="8997026"/>
            <a:ext cx="1093780" cy="863627"/>
          </a:xfrm>
          <a:custGeom>
            <a:avLst/>
            <a:gdLst/>
            <a:ahLst/>
            <a:cxnLst/>
            <a:rect r="r" b="b" t="t" l="l"/>
            <a:pathLst>
              <a:path h="863627" w="1093780">
                <a:moveTo>
                  <a:pt x="0" y="0"/>
                </a:moveTo>
                <a:lnTo>
                  <a:pt x="1093780" y="0"/>
                </a:lnTo>
                <a:lnTo>
                  <a:pt x="1093780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8212654" y="8926670"/>
            <a:ext cx="3837731" cy="511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3168" b="true">
                <a:solidFill>
                  <a:srgbClr val="FFFFFF">
                    <a:alpha val="89804"/>
                  </a:srgbClr>
                </a:solidFill>
                <a:latin typeface="Agrandir Tight Medium"/>
                <a:ea typeface="Agrandir Tight Medium"/>
                <a:cs typeface="Agrandir Tight Medium"/>
                <a:sym typeface="Agrandir Tight Medium"/>
              </a:rPr>
              <a:t>RESULTS &amp; ANALYTICS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748986" y="9367094"/>
            <a:ext cx="4663125" cy="473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spc="48">
                <a:solidFill>
                  <a:srgbClr val="FFFFFF">
                    <a:alpha val="89804"/>
                  </a:srgbClr>
                </a:solidFill>
                <a:latin typeface="Agrandir Tight"/>
                <a:ea typeface="Agrandir Tight"/>
                <a:cs typeface="Agrandir Tight"/>
                <a:sym typeface="Agrandir Tight"/>
              </a:rPr>
              <a:t>Reports and insights for stakeholders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943638" y="2363803"/>
            <a:ext cx="3950285" cy="473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spc="48">
                <a:solidFill>
                  <a:srgbClr val="FFFFFF">
                    <a:alpha val="89804"/>
                  </a:srgbClr>
                </a:solidFill>
                <a:latin typeface="Agrandir Tight"/>
                <a:ea typeface="Agrandir Tight"/>
                <a:cs typeface="Agrandir Tight"/>
                <a:sym typeface="Agrandir Tight"/>
              </a:rPr>
              <a:t>React / HTML / CSS / JavaScript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3950" y="758514"/>
            <a:ext cx="7329995" cy="807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2"/>
              </a:lnSpc>
            </a:pPr>
            <a:r>
              <a:rPr lang="en-US" b="true" sz="6082" spc="-121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ALGORITHMS USED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45330" y="2350377"/>
            <a:ext cx="5457962" cy="6438940"/>
          </a:xfrm>
          <a:custGeom>
            <a:avLst/>
            <a:gdLst/>
            <a:ahLst/>
            <a:cxnLst/>
            <a:rect r="r" b="b" t="t" l="l"/>
            <a:pathLst>
              <a:path h="6438940" w="5457962">
                <a:moveTo>
                  <a:pt x="0" y="0"/>
                </a:moveTo>
                <a:lnTo>
                  <a:pt x="5457962" y="0"/>
                </a:lnTo>
                <a:lnTo>
                  <a:pt x="5457962" y="6438941"/>
                </a:lnTo>
                <a:lnTo>
                  <a:pt x="0" y="64389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80781" y="2668960"/>
            <a:ext cx="575694" cy="7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40"/>
              </a:lnSpc>
            </a:pPr>
            <a:r>
              <a:rPr lang="en-US" b="true" sz="4640" spc="-92">
                <a:solidFill>
                  <a:srgbClr val="FFFFFF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83805" y="2768279"/>
            <a:ext cx="1823660" cy="429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3"/>
              </a:lnSpc>
            </a:pPr>
            <a:r>
              <a:rPr lang="en-US" b="true" sz="2653" spc="-53">
                <a:solidFill>
                  <a:srgbClr val="FFFFFF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SORTING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93283" y="3899690"/>
            <a:ext cx="1222462" cy="504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5"/>
              </a:lnSpc>
            </a:pPr>
            <a:r>
              <a:rPr lang="en-US" b="true" sz="2575" spc="-51">
                <a:solidFill>
                  <a:srgbClr val="031122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Purpose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5508" y="4440579"/>
            <a:ext cx="4045148" cy="473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sz="2387" spc="-47">
                <a:solidFill>
                  <a:srgbClr val="FFFFFF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Rank candidates by priority score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91000" y="5405774"/>
            <a:ext cx="1450826" cy="515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5"/>
              </a:lnSpc>
            </a:pPr>
            <a:r>
              <a:rPr lang="en-US" sz="2575" spc="-51" b="true">
                <a:solidFill>
                  <a:srgbClr val="031122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Algorithm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9575" y="5963026"/>
            <a:ext cx="1593264" cy="504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5"/>
              </a:lnSpc>
            </a:pPr>
            <a:r>
              <a:rPr lang="en-US" sz="2575" spc="-51">
                <a:solidFill>
                  <a:srgbClr val="FFFFFF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Merge Sort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0781" y="6941980"/>
            <a:ext cx="2472683" cy="504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5"/>
              </a:lnSpc>
            </a:pPr>
            <a:r>
              <a:rPr lang="en-US" b="true" sz="2575" spc="-51">
                <a:solidFill>
                  <a:srgbClr val="031122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Time Complexity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1466" y="7499231"/>
            <a:ext cx="1404227" cy="504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5"/>
              </a:lnSpc>
            </a:pPr>
            <a:r>
              <a:rPr lang="en-US" sz="2575" spc="-51">
                <a:solidFill>
                  <a:srgbClr val="FFFFFF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O(n log n)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092354" y="2350377"/>
            <a:ext cx="5447024" cy="6438940"/>
          </a:xfrm>
          <a:custGeom>
            <a:avLst/>
            <a:gdLst/>
            <a:ahLst/>
            <a:cxnLst/>
            <a:rect r="r" b="b" t="t" l="l"/>
            <a:pathLst>
              <a:path h="6438940" w="5447024">
                <a:moveTo>
                  <a:pt x="0" y="0"/>
                </a:moveTo>
                <a:lnTo>
                  <a:pt x="5447024" y="0"/>
                </a:lnTo>
                <a:lnTo>
                  <a:pt x="5447024" y="6438941"/>
                </a:lnTo>
                <a:lnTo>
                  <a:pt x="0" y="64389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536531" y="2633860"/>
            <a:ext cx="706873" cy="78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2"/>
              </a:lnSpc>
            </a:pPr>
            <a:r>
              <a:rPr lang="en-US" b="true" sz="4992" spc="-99">
                <a:solidFill>
                  <a:srgbClr val="FFFFFF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51696" y="2776353"/>
            <a:ext cx="2960899" cy="40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7"/>
              </a:lnSpc>
            </a:pPr>
            <a:r>
              <a:rPr lang="en-US" b="true" sz="2667" spc="-53">
                <a:solidFill>
                  <a:srgbClr val="FFFFFF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GREEDY ALGORITHM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36531" y="4449253"/>
            <a:ext cx="3750469" cy="84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 spc="-45">
                <a:solidFill>
                  <a:srgbClr val="FFFFFF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Select highest-priority</a:t>
            </a:r>
          </a:p>
          <a:p>
            <a:pPr algn="l">
              <a:lnSpc>
                <a:spcPts val="3156"/>
              </a:lnSpc>
            </a:pPr>
            <a:r>
              <a:rPr lang="en-US" sz="2254" spc="-45">
                <a:solidFill>
                  <a:srgbClr val="FFFFFF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feasible candidates stepwise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09742" y="6729827"/>
            <a:ext cx="964406" cy="473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sz="2387" spc="-47">
                <a:solidFill>
                  <a:srgbClr val="FFFFFF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Sort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40203" y="6572832"/>
            <a:ext cx="1660922" cy="84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6"/>
              </a:lnSpc>
            </a:pPr>
            <a:r>
              <a:rPr lang="en-US" sz="2254" spc="-45">
                <a:solidFill>
                  <a:srgbClr val="FFFFFF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Select best</a:t>
            </a:r>
          </a:p>
          <a:p>
            <a:pPr algn="ctr">
              <a:lnSpc>
                <a:spcPts val="3156"/>
              </a:lnSpc>
            </a:pPr>
            <a:r>
              <a:rPr lang="en-US" sz="2254" spc="-45">
                <a:solidFill>
                  <a:srgbClr val="FFFFFF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feasible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974336" y="6572832"/>
            <a:ext cx="1446609" cy="84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6"/>
              </a:lnSpc>
            </a:pPr>
            <a:r>
              <a:rPr lang="en-US" sz="2254" spc="-45">
                <a:solidFill>
                  <a:srgbClr val="FFFFFF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Update</a:t>
            </a:r>
          </a:p>
          <a:p>
            <a:pPr algn="ctr">
              <a:lnSpc>
                <a:spcPts val="3156"/>
              </a:lnSpc>
            </a:pPr>
            <a:r>
              <a:rPr lang="en-US" sz="2254" spc="-45">
                <a:solidFill>
                  <a:srgbClr val="FFFFFF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budget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54891" y="6729827"/>
            <a:ext cx="964406" cy="473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sz="2387" spc="-47">
                <a:solidFill>
                  <a:srgbClr val="FFFFFF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Repeat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1747196" y="2350377"/>
            <a:ext cx="5676718" cy="6438940"/>
          </a:xfrm>
          <a:custGeom>
            <a:avLst/>
            <a:gdLst/>
            <a:ahLst/>
            <a:cxnLst/>
            <a:rect r="r" b="b" t="t" l="l"/>
            <a:pathLst>
              <a:path h="6438940" w="5676718">
                <a:moveTo>
                  <a:pt x="0" y="0"/>
                </a:moveTo>
                <a:lnTo>
                  <a:pt x="5676718" y="0"/>
                </a:lnTo>
                <a:lnTo>
                  <a:pt x="5676718" y="6438941"/>
                </a:lnTo>
                <a:lnTo>
                  <a:pt x="0" y="64389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968003" y="2540008"/>
            <a:ext cx="698128" cy="791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1"/>
              </a:lnSpc>
            </a:pPr>
            <a:r>
              <a:rPr lang="en-US" b="true" sz="4921" spc="-98">
                <a:solidFill>
                  <a:srgbClr val="FFFFFF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03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090640" y="2787454"/>
            <a:ext cx="3600054" cy="385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b="true" sz="2496" spc="-49">
                <a:solidFill>
                  <a:srgbClr val="FFFFFF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DYNAMIC PROGRAMMING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108656" y="4223341"/>
            <a:ext cx="3750469" cy="84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 spc="-45">
                <a:solidFill>
                  <a:srgbClr val="FFFFFF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Optimize candidate selection</a:t>
            </a:r>
          </a:p>
          <a:p>
            <a:pPr algn="l">
              <a:lnSpc>
                <a:spcPts val="3156"/>
              </a:lnSpc>
            </a:pPr>
            <a:r>
              <a:rPr lang="en-US" sz="2254" spc="-45">
                <a:solidFill>
                  <a:srgbClr val="FFFFFF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under budget constraints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108656" y="6768623"/>
            <a:ext cx="4822031" cy="84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 spc="-45">
                <a:solidFill>
                  <a:srgbClr val="FFFFFF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Candidate Cost = Scholarship Amount</a:t>
            </a:r>
          </a:p>
          <a:p>
            <a:pPr algn="l">
              <a:lnSpc>
                <a:spcPts val="3156"/>
              </a:lnSpc>
            </a:pPr>
            <a:r>
              <a:rPr lang="en-US" sz="2254" spc="-45">
                <a:solidFill>
                  <a:srgbClr val="FFFFFF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Value = Priority Score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108656" y="8085302"/>
            <a:ext cx="4822031" cy="473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sz="2387" spc="-47">
                <a:solidFill>
                  <a:srgbClr val="FFFFFF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No universal best algorithm claim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108656" y="5630385"/>
            <a:ext cx="4822031" cy="473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sz="2387" spc="-47">
                <a:solidFill>
                  <a:srgbClr val="FFFFFF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0/1 Knapsack style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108656" y="6353306"/>
            <a:ext cx="4045148" cy="473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b="true" sz="2387" spc="-47">
                <a:solidFill>
                  <a:srgbClr val="031122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Concept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536531" y="3913449"/>
            <a:ext cx="4045148" cy="473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b="true" sz="2387" spc="-47">
                <a:solidFill>
                  <a:srgbClr val="031122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Purpose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536531" y="6021967"/>
            <a:ext cx="4045148" cy="473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b="true" sz="2387" spc="-47">
                <a:solidFill>
                  <a:srgbClr val="031122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Process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08656" y="3808023"/>
            <a:ext cx="4045148" cy="473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b="true" sz="2387" spc="-47">
                <a:solidFill>
                  <a:srgbClr val="031122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Purpose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108656" y="5223742"/>
            <a:ext cx="4045148" cy="473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b="true" sz="2387" spc="-47">
                <a:solidFill>
                  <a:srgbClr val="031122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Model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108656" y="7708781"/>
            <a:ext cx="4045148" cy="473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b="true" sz="2387" spc="-47">
                <a:solidFill>
                  <a:srgbClr val="031122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Note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4115" y="518383"/>
            <a:ext cx="14808813" cy="959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8"/>
              </a:lnSpc>
            </a:pPr>
            <a:r>
              <a:rPr lang="en-US" b="true" sz="6008" spc="-240">
                <a:solidFill>
                  <a:srgbClr val="F1F1F1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CANDIDATE EVALUATION &amp; PRIORITY SCORE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26574" y="1705390"/>
            <a:ext cx="4582938" cy="3662216"/>
          </a:xfrm>
          <a:custGeom>
            <a:avLst/>
            <a:gdLst/>
            <a:ahLst/>
            <a:cxnLst/>
            <a:rect r="r" b="b" t="t" l="l"/>
            <a:pathLst>
              <a:path h="3662216" w="4582938">
                <a:moveTo>
                  <a:pt x="0" y="0"/>
                </a:moveTo>
                <a:lnTo>
                  <a:pt x="4582938" y="0"/>
                </a:lnTo>
                <a:lnTo>
                  <a:pt x="4582938" y="3662216"/>
                </a:lnTo>
                <a:lnTo>
                  <a:pt x="0" y="36622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6466" y="2092759"/>
            <a:ext cx="1764506" cy="385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</a:pPr>
            <a:r>
              <a:rPr lang="en-US" b="true" sz="2487" spc="-99">
                <a:solidFill>
                  <a:srgbClr val="031122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INPUT DATA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83339" y="2577192"/>
            <a:ext cx="2302731" cy="2299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2047" spc="-40">
                <a:solidFill>
                  <a:srgbClr val="031122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Student Name</a:t>
            </a:r>
          </a:p>
          <a:p>
            <a:pPr algn="ctr">
              <a:lnSpc>
                <a:spcPts val="2661"/>
              </a:lnSpc>
            </a:pPr>
            <a:r>
              <a:rPr lang="en-US" sz="2047" spc="-40">
                <a:solidFill>
                  <a:srgbClr val="031122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Marks</a:t>
            </a:r>
          </a:p>
          <a:p>
            <a:pPr algn="ctr">
              <a:lnSpc>
                <a:spcPts val="2661"/>
              </a:lnSpc>
            </a:pPr>
            <a:r>
              <a:rPr lang="en-US" sz="2047" spc="-40">
                <a:solidFill>
                  <a:srgbClr val="031122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Family Income</a:t>
            </a:r>
          </a:p>
          <a:p>
            <a:pPr algn="ctr">
              <a:lnSpc>
                <a:spcPts val="2661"/>
              </a:lnSpc>
            </a:pPr>
            <a:r>
              <a:rPr lang="en-US" sz="2047" spc="-40">
                <a:solidFill>
                  <a:srgbClr val="031122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Financial Need</a:t>
            </a:r>
          </a:p>
          <a:p>
            <a:pPr algn="ctr">
              <a:lnSpc>
                <a:spcPts val="2661"/>
              </a:lnSpc>
            </a:pPr>
            <a:r>
              <a:rPr lang="en-US" sz="2047" spc="-40">
                <a:solidFill>
                  <a:srgbClr val="031122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Category</a:t>
            </a:r>
          </a:p>
          <a:p>
            <a:pPr algn="ctr">
              <a:lnSpc>
                <a:spcPts val="2661"/>
              </a:lnSpc>
            </a:pPr>
            <a:r>
              <a:rPr lang="en-US" sz="2047" spc="-40">
                <a:solidFill>
                  <a:srgbClr val="031122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Eligibility</a:t>
            </a:r>
          </a:p>
          <a:p>
            <a:pPr algn="ctr">
              <a:lnSpc>
                <a:spcPts val="2661"/>
              </a:lnSpc>
            </a:pPr>
            <a:r>
              <a:rPr lang="en-US" sz="2047" spc="-40">
                <a:solidFill>
                  <a:srgbClr val="031122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Scholarship Amount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384440" y="5138034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6574" y="5564382"/>
            <a:ext cx="4582938" cy="1945894"/>
          </a:xfrm>
          <a:custGeom>
            <a:avLst/>
            <a:gdLst/>
            <a:ahLst/>
            <a:cxnLst/>
            <a:rect r="r" b="b" t="t" l="l"/>
            <a:pathLst>
              <a:path h="1945894" w="4582938">
                <a:moveTo>
                  <a:pt x="0" y="0"/>
                </a:moveTo>
                <a:lnTo>
                  <a:pt x="4582938" y="0"/>
                </a:lnTo>
                <a:lnTo>
                  <a:pt x="4582938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73060" y="5888090"/>
            <a:ext cx="2671317" cy="385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</a:pPr>
            <a:r>
              <a:rPr lang="en-US" b="true" sz="2487" spc="-99">
                <a:solidFill>
                  <a:srgbClr val="F1F1F1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ELIGIBILITY CHECK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2452" y="6342402"/>
            <a:ext cx="3155933" cy="692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2047" spc="-40">
                <a:solidFill>
                  <a:srgbClr val="F1F1F1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Marks &gt;&gt; 60</a:t>
            </a:r>
          </a:p>
          <a:p>
            <a:pPr algn="ctr">
              <a:lnSpc>
                <a:spcPts val="2661"/>
              </a:lnSpc>
            </a:pPr>
            <a:r>
              <a:rPr lang="en-US" sz="2047" spc="-40">
                <a:solidFill>
                  <a:srgbClr val="F1F1F1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Family Income == ₹2,00,000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384440" y="7280704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26574" y="7707051"/>
            <a:ext cx="4582938" cy="1945894"/>
          </a:xfrm>
          <a:custGeom>
            <a:avLst/>
            <a:gdLst/>
            <a:ahLst/>
            <a:cxnLst/>
            <a:rect r="r" b="b" t="t" l="l"/>
            <a:pathLst>
              <a:path h="1945894" w="4582938">
                <a:moveTo>
                  <a:pt x="0" y="0"/>
                </a:moveTo>
                <a:lnTo>
                  <a:pt x="4582938" y="0"/>
                </a:lnTo>
                <a:lnTo>
                  <a:pt x="4582938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0059" y="8026730"/>
            <a:ext cx="3177321" cy="385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</a:pPr>
            <a:r>
              <a:rPr lang="en-US" b="true" sz="2487" spc="-99">
                <a:solidFill>
                  <a:srgbClr val="F1F1F1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ELIGIBLE CANDIDATES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11094" y="8450920"/>
            <a:ext cx="2638647" cy="692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2047" spc="-40">
                <a:solidFill>
                  <a:srgbClr val="F1F1F1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only eligible candidates</a:t>
            </a:r>
          </a:p>
          <a:p>
            <a:pPr algn="ctr">
              <a:lnSpc>
                <a:spcPts val="2661"/>
              </a:lnSpc>
            </a:pPr>
            <a:r>
              <a:rPr lang="en-US" sz="2047" spc="-40">
                <a:solidFill>
                  <a:srgbClr val="F1F1F1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move to scoring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43717" y="9363434"/>
            <a:ext cx="3556447" cy="511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b="true" sz="3168" spc="-63">
                <a:solidFill>
                  <a:srgbClr val="F1F1F1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ELIGIBILITY CHECK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60144" y="9342475"/>
            <a:ext cx="1602822" cy="545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8"/>
              </a:lnSpc>
            </a:pPr>
            <a:r>
              <a:rPr lang="en-US" b="true" sz="3478" spc="-69">
                <a:solidFill>
                  <a:srgbClr val="737373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BEFORE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202702" y="9363434"/>
            <a:ext cx="4870407" cy="511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b="true" sz="3168" spc="-63">
                <a:solidFill>
                  <a:srgbClr val="F1F1F1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SCORING AND SELECTION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009512" y="4054085"/>
            <a:ext cx="13278488" cy="3226618"/>
            <a:chOff x="0" y="0"/>
            <a:chExt cx="17704651" cy="430215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159413" cy="4302158"/>
            </a:xfrm>
            <a:custGeom>
              <a:avLst/>
              <a:gdLst/>
              <a:ahLst/>
              <a:cxnLst/>
              <a:rect r="r" b="b" t="t" l="l"/>
              <a:pathLst>
                <a:path h="4302158" w="17159413">
                  <a:moveTo>
                    <a:pt x="0" y="0"/>
                  </a:moveTo>
                  <a:lnTo>
                    <a:pt x="17159413" y="0"/>
                  </a:lnTo>
                  <a:lnTo>
                    <a:pt x="17159413" y="4302158"/>
                  </a:lnTo>
                  <a:lnTo>
                    <a:pt x="0" y="4302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586446" y="379297"/>
              <a:ext cx="3573738" cy="4667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2"/>
                </a:lnSpc>
              </a:pPr>
              <a:r>
                <a:rPr lang="en-US" b="true" sz="2256" spc="-90">
                  <a:solidFill>
                    <a:srgbClr val="F1F1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STUDENT NAME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6626063" y="379297"/>
              <a:ext cx="3573738" cy="4667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2"/>
                </a:lnSpc>
              </a:pPr>
              <a:r>
                <a:rPr lang="en-US" b="true" sz="2256" spc="-90">
                  <a:solidFill>
                    <a:srgbClr val="F1F1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FINANCIAL NEED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0164064" y="379297"/>
              <a:ext cx="3573738" cy="4667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2"/>
                </a:lnSpc>
              </a:pPr>
              <a:r>
                <a:rPr lang="en-US" b="true" sz="2256" spc="-90">
                  <a:solidFill>
                    <a:srgbClr val="F1F1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PRIORITY SCORE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3630590" y="379297"/>
              <a:ext cx="3573738" cy="4667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2"/>
                </a:lnSpc>
              </a:pPr>
              <a:r>
                <a:rPr lang="en-US" b="true" sz="2256" spc="-90">
                  <a:solidFill>
                    <a:srgbClr val="F1F1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ELIGIBILITY STATUS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586446" y="1444151"/>
              <a:ext cx="3573738" cy="4667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2"/>
                </a:lnSpc>
              </a:pPr>
              <a:r>
                <a:rPr lang="en-US" sz="2256" spc="-45">
                  <a:solidFill>
                    <a:srgbClr val="F1F1F1"/>
                  </a:solidFill>
                  <a:latin typeface="Inter"/>
                  <a:ea typeface="Inter"/>
                  <a:cs typeface="Inter"/>
                  <a:sym typeface="Inter"/>
                </a:rPr>
                <a:t>Ananya Sharma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0903753" y="1313254"/>
              <a:ext cx="1079600" cy="6692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70"/>
                </a:lnSpc>
              </a:pPr>
              <a:r>
                <a:rPr lang="en-US" b="true" sz="3170" spc="-63">
                  <a:solidFill>
                    <a:srgbClr val="249EE6"/>
                  </a:solidFill>
                  <a:latin typeface="Agrandir Tight Bold"/>
                  <a:ea typeface="Agrandir Tight Bold"/>
                  <a:cs typeface="Agrandir Tight Bold"/>
                  <a:sym typeface="Agrandir Tight Bold"/>
                </a:rPr>
                <a:t>91.2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0903753" y="2378109"/>
              <a:ext cx="1079600" cy="6692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70"/>
                </a:lnSpc>
              </a:pPr>
              <a:r>
                <a:rPr lang="en-US" b="true" sz="3170" spc="-63">
                  <a:solidFill>
                    <a:srgbClr val="249EE6"/>
                  </a:solidFill>
                  <a:latin typeface="Agrandir Tight Bold"/>
                  <a:ea typeface="Agrandir Tight Bold"/>
                  <a:cs typeface="Agrandir Tight Bold"/>
                  <a:sym typeface="Agrandir Tight Bold"/>
                </a:rPr>
                <a:t>75.6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0903753" y="3362597"/>
              <a:ext cx="1079600" cy="6692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70"/>
                </a:lnSpc>
              </a:pPr>
              <a:r>
                <a:rPr lang="en-US" b="true" sz="3170" spc="-63">
                  <a:solidFill>
                    <a:srgbClr val="249EE6"/>
                  </a:solidFill>
                  <a:latin typeface="Agrandir Tight Bold"/>
                  <a:ea typeface="Agrandir Tight Bold"/>
                  <a:cs typeface="Agrandir Tight Bold"/>
                  <a:sym typeface="Agrandir Tight Bold"/>
                </a:rPr>
                <a:t>67.0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3880751" y="3473402"/>
              <a:ext cx="3573738" cy="4667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2"/>
                </a:lnSpc>
              </a:pPr>
              <a:r>
                <a:rPr lang="en-US" b="true" sz="2256" spc="-45">
                  <a:solidFill>
                    <a:srgbClr val="F1F1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NOT ELIGIBLE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836608" y="2468823"/>
              <a:ext cx="3573738" cy="4667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2"/>
                </a:lnSpc>
              </a:pPr>
              <a:r>
                <a:rPr lang="en-US" sz="2256" spc="-45">
                  <a:solidFill>
                    <a:srgbClr val="F1F1F1"/>
                  </a:solidFill>
                  <a:latin typeface="Inter"/>
                  <a:ea typeface="Inter"/>
                  <a:cs typeface="Inter"/>
                  <a:sym typeface="Inter"/>
                </a:rPr>
                <a:t>Rohan Verma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979558" y="3473402"/>
              <a:ext cx="3573738" cy="4667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2"/>
                </a:lnSpc>
              </a:pPr>
              <a:r>
                <a:rPr lang="en-US" sz="2256" spc="-45">
                  <a:solidFill>
                    <a:srgbClr val="F1F1F1"/>
                  </a:solidFill>
                  <a:latin typeface="Inter"/>
                  <a:ea typeface="Inter"/>
                  <a:cs typeface="Inter"/>
                  <a:sym typeface="Inter"/>
                </a:rPr>
                <a:t>Neha Singh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4130913" y="1424060"/>
              <a:ext cx="3573738" cy="4667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2"/>
                </a:lnSpc>
              </a:pPr>
              <a:r>
                <a:rPr lang="en-US" b="true" sz="2256" spc="-45">
                  <a:solidFill>
                    <a:srgbClr val="F1F1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ELIGIBLE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14130913" y="2468823"/>
              <a:ext cx="3573738" cy="4667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2"/>
                </a:lnSpc>
              </a:pPr>
              <a:r>
                <a:rPr lang="en-US" b="true" sz="2256" spc="-45">
                  <a:solidFill>
                    <a:srgbClr val="F1F1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ELIGIBLE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4338871" y="379297"/>
              <a:ext cx="3573738" cy="4667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2"/>
                </a:lnSpc>
              </a:pPr>
              <a:r>
                <a:rPr lang="en-US" b="true" sz="2256" spc="-90">
                  <a:solidFill>
                    <a:srgbClr val="F1F1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MARKS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7698185" y="3473402"/>
              <a:ext cx="1894081" cy="4667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2"/>
                </a:lnSpc>
              </a:pPr>
              <a:r>
                <a:rPr lang="en-US" b="true" sz="2256" spc="-45">
                  <a:solidFill>
                    <a:srgbClr val="F1F1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85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7698185" y="1424060"/>
              <a:ext cx="1894081" cy="4667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2"/>
                </a:lnSpc>
              </a:pPr>
              <a:r>
                <a:rPr lang="en-US" b="true" sz="2256" spc="-45">
                  <a:solidFill>
                    <a:srgbClr val="F1F1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90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7698185" y="2448731"/>
              <a:ext cx="1894081" cy="4667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2"/>
                </a:lnSpc>
              </a:pPr>
              <a:r>
                <a:rPr lang="en-US" b="true" sz="2256" spc="-45">
                  <a:solidFill>
                    <a:srgbClr val="F1F1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70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4696245" y="3473402"/>
              <a:ext cx="1894081" cy="4667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2"/>
                </a:lnSpc>
              </a:pPr>
              <a:r>
                <a:rPr lang="en-US" b="true" sz="2256" spc="-45">
                  <a:solidFill>
                    <a:srgbClr val="F1F1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55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4696245" y="1424060"/>
              <a:ext cx="1894081" cy="4667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2"/>
                </a:lnSpc>
              </a:pPr>
              <a:r>
                <a:rPr lang="en-US" b="true" sz="2256" spc="-45">
                  <a:solidFill>
                    <a:srgbClr val="F1F1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92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4696245" y="2448731"/>
              <a:ext cx="1894081" cy="4667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2"/>
                </a:lnSpc>
              </a:pPr>
              <a:r>
                <a:rPr lang="en-US" b="true" sz="2256" spc="-45">
                  <a:solidFill>
                    <a:srgbClr val="F1F1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78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3802" y="518123"/>
            <a:ext cx="11519007" cy="1109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5"/>
              </a:lnSpc>
            </a:pPr>
            <a:r>
              <a:rPr lang="en-US" sz="6985" b="true">
                <a:solidFill>
                  <a:srgbClr val="FFFFFF">
                    <a:alpha val="89804"/>
                  </a:srgbClr>
                </a:solidFill>
                <a:latin typeface="Agrandir Tight Medium"/>
                <a:ea typeface="Agrandir Tight Medium"/>
                <a:cs typeface="Agrandir Tight Medium"/>
                <a:sym typeface="Agrandir Tight Medium"/>
              </a:rPr>
              <a:t>CONCLUSION &amp; FUTURE SCOPE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26574" y="1924030"/>
            <a:ext cx="6540804" cy="7728915"/>
          </a:xfrm>
          <a:custGeom>
            <a:avLst/>
            <a:gdLst/>
            <a:ahLst/>
            <a:cxnLst/>
            <a:rect r="r" b="b" t="t" l="l"/>
            <a:pathLst>
              <a:path h="7728915" w="6540804">
                <a:moveTo>
                  <a:pt x="0" y="0"/>
                </a:moveTo>
                <a:lnTo>
                  <a:pt x="6540804" y="0"/>
                </a:lnTo>
                <a:lnTo>
                  <a:pt x="6540804" y="7728915"/>
                </a:lnTo>
                <a:lnTo>
                  <a:pt x="0" y="77289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07017" y="2643919"/>
            <a:ext cx="3060040" cy="469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1"/>
              </a:lnSpc>
            </a:pPr>
            <a:r>
              <a:rPr lang="en-US" b="true" sz="3541">
                <a:solidFill>
                  <a:srgbClr val="03112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4306" y="3495031"/>
            <a:ext cx="5331078" cy="1980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5"/>
              </a:lnSpc>
            </a:pPr>
            <a:r>
              <a:rPr lang="en-US" sz="2623" spc="-52">
                <a:solidFill>
                  <a:srgbClr val="FFFFFF">
                    <a:alpha val="80000"/>
                  </a:srgbClr>
                </a:solidFill>
                <a:latin typeface="Agrandir Tight"/>
                <a:ea typeface="Agrandir Tight"/>
                <a:cs typeface="Agrandir Tight"/>
                <a:sym typeface="Agrandir Tight"/>
              </a:rPr>
              <a:t>Algorithm-driven scholarship allocation combining sorting, greedy, dynamic programming, eligibility, and budget optimization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64086" y="5990729"/>
            <a:ext cx="5676718" cy="229572"/>
          </a:xfrm>
          <a:custGeom>
            <a:avLst/>
            <a:gdLst/>
            <a:ahLst/>
            <a:cxnLst/>
            <a:rect r="r" b="b" t="t" l="l"/>
            <a:pathLst>
              <a:path h="229572" w="5676718">
                <a:moveTo>
                  <a:pt x="0" y="0"/>
                </a:moveTo>
                <a:lnTo>
                  <a:pt x="5676718" y="0"/>
                </a:lnTo>
                <a:lnTo>
                  <a:pt x="567671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84061" y="6482082"/>
            <a:ext cx="5355608" cy="1708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6"/>
              </a:lnSpc>
            </a:pPr>
            <a:r>
              <a:rPr lang="en-US" sz="2970" spc="-59">
                <a:solidFill>
                  <a:srgbClr val="031122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Faster, structured, budget-aware, transparent, and optimized scholarship selection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175196" y="1924030"/>
            <a:ext cx="5676718" cy="7728915"/>
          </a:xfrm>
          <a:custGeom>
            <a:avLst/>
            <a:gdLst/>
            <a:ahLst/>
            <a:cxnLst/>
            <a:rect r="r" b="b" t="t" l="l"/>
            <a:pathLst>
              <a:path h="7728915" w="5676718">
                <a:moveTo>
                  <a:pt x="0" y="0"/>
                </a:moveTo>
                <a:lnTo>
                  <a:pt x="5676718" y="0"/>
                </a:lnTo>
                <a:lnTo>
                  <a:pt x="5676718" y="7728915"/>
                </a:lnTo>
                <a:lnTo>
                  <a:pt x="0" y="77289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601244" y="2654071"/>
            <a:ext cx="3363913" cy="449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5"/>
              </a:lnSpc>
            </a:pPr>
            <a:r>
              <a:rPr lang="en-US" b="true" sz="3445">
                <a:solidFill>
                  <a:srgbClr val="03112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FUTURE SCOPE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05356" y="3362885"/>
            <a:ext cx="2952729" cy="902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46">
                <a:solidFill>
                  <a:srgbClr val="FFFFFF">
                    <a:alpha val="80000"/>
                  </a:srgbClr>
                </a:solidFill>
                <a:latin typeface="Agrandir Tight"/>
                <a:ea typeface="Agrandir Tight"/>
                <a:cs typeface="Agrandir Tight"/>
                <a:sym typeface="Agrandir Tight"/>
              </a:rPr>
              <a:t>Advanced fairness and coverage constraints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612708" y="4285339"/>
            <a:ext cx="3718852" cy="218640"/>
          </a:xfrm>
          <a:custGeom>
            <a:avLst/>
            <a:gdLst/>
            <a:ahLst/>
            <a:cxnLst/>
            <a:rect r="r" b="b" t="t" l="l"/>
            <a:pathLst>
              <a:path h="218640" w="3718852">
                <a:moveTo>
                  <a:pt x="0" y="0"/>
                </a:moveTo>
                <a:lnTo>
                  <a:pt x="3718852" y="0"/>
                </a:lnTo>
                <a:lnTo>
                  <a:pt x="3718852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604607" y="4552691"/>
            <a:ext cx="3027588" cy="902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46">
                <a:solidFill>
                  <a:srgbClr val="FFFFFF">
                    <a:alpha val="80000"/>
                  </a:srgbClr>
                </a:solidFill>
                <a:latin typeface="Agrandir Tight"/>
                <a:ea typeface="Agrandir Tight"/>
                <a:cs typeface="Agrandir Tight"/>
                <a:sym typeface="Agrandir Tight"/>
              </a:rPr>
              <a:t>Support larger datasets and cloud deployment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612708" y="5564382"/>
            <a:ext cx="3718852" cy="229572"/>
          </a:xfrm>
          <a:custGeom>
            <a:avLst/>
            <a:gdLst/>
            <a:ahLst/>
            <a:cxnLst/>
            <a:rect r="r" b="b" t="t" l="l"/>
            <a:pathLst>
              <a:path h="229572" w="3718852">
                <a:moveTo>
                  <a:pt x="0" y="0"/>
                </a:moveTo>
                <a:lnTo>
                  <a:pt x="3718852" y="0"/>
                </a:lnTo>
                <a:lnTo>
                  <a:pt x="371885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598471" y="5712376"/>
            <a:ext cx="3641174" cy="902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46">
                <a:solidFill>
                  <a:srgbClr val="FFFFFF">
                    <a:alpha val="80000"/>
                  </a:srgbClr>
                </a:solidFill>
                <a:latin typeface="Agrandir Tight"/>
                <a:ea typeface="Agrandir Tight"/>
                <a:cs typeface="Agrandir Tight"/>
                <a:sym typeface="Agrandir Tight"/>
              </a:rPr>
              <a:t>Add admin authentication and automated notifications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612708" y="6635716"/>
            <a:ext cx="3718852" cy="229572"/>
          </a:xfrm>
          <a:custGeom>
            <a:avLst/>
            <a:gdLst/>
            <a:ahLst/>
            <a:cxnLst/>
            <a:rect r="r" b="b" t="t" l="l"/>
            <a:pathLst>
              <a:path h="229572" w="3718852">
                <a:moveTo>
                  <a:pt x="0" y="0"/>
                </a:moveTo>
                <a:lnTo>
                  <a:pt x="3718852" y="0"/>
                </a:lnTo>
                <a:lnTo>
                  <a:pt x="371885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608188" y="6917243"/>
            <a:ext cx="2669435" cy="902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46">
                <a:solidFill>
                  <a:srgbClr val="FFFFFF">
                    <a:alpha val="80000"/>
                  </a:srgbClr>
                </a:solidFill>
                <a:latin typeface="Agrandir Tight"/>
                <a:ea typeface="Agrandir Tight"/>
                <a:cs typeface="Agrandir Tight"/>
                <a:sym typeface="Agrandir Tight"/>
              </a:rPr>
              <a:t>Incorporate machine learning analysis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7612708" y="7925691"/>
            <a:ext cx="3281340" cy="218640"/>
          </a:xfrm>
          <a:custGeom>
            <a:avLst/>
            <a:gdLst/>
            <a:ahLst/>
            <a:cxnLst/>
            <a:rect r="r" b="b" t="t" l="l"/>
            <a:pathLst>
              <a:path h="218640" w="3281340">
                <a:moveTo>
                  <a:pt x="0" y="0"/>
                </a:moveTo>
                <a:lnTo>
                  <a:pt x="3281340" y="0"/>
                </a:lnTo>
                <a:lnTo>
                  <a:pt x="328134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610153" y="8167293"/>
            <a:ext cx="2473007" cy="902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46">
                <a:solidFill>
                  <a:srgbClr val="FFFFFF">
                    <a:alpha val="80000"/>
                  </a:srgbClr>
                </a:solidFill>
                <a:latin typeface="Agrandir Tight"/>
                <a:ea typeface="Agrandir Tight"/>
                <a:cs typeface="Agrandir Tight"/>
                <a:sym typeface="Agrandir Tight"/>
              </a:rPr>
              <a:t>Integrate with real scholarship portals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883110" y="2142670"/>
            <a:ext cx="6978316" cy="7717983"/>
          </a:xfrm>
          <a:custGeom>
            <a:avLst/>
            <a:gdLst/>
            <a:ahLst/>
            <a:cxnLst/>
            <a:rect r="r" b="b" t="t" l="l"/>
            <a:pathLst>
              <a:path h="7717983" w="6978316">
                <a:moveTo>
                  <a:pt x="0" y="0"/>
                </a:moveTo>
                <a:lnTo>
                  <a:pt x="6978316" y="0"/>
                </a:lnTo>
                <a:lnTo>
                  <a:pt x="6978316" y="7717982"/>
                </a:lnTo>
                <a:lnTo>
                  <a:pt x="0" y="77179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DAHW7KmJ_wU</dc:identifier>
  <dcterms:modified xsi:type="dcterms:W3CDTF">2011-08-01T06:04:30Z</dcterms:modified>
  <cp:revision>1</cp:revision>
  <dc:title>Scholarship Selection System</dc:title>
</cp:coreProperties>
</file>